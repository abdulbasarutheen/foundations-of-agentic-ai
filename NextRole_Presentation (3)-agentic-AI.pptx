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06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0">
            <a:extLst>
              <a:ext uri="{FF2B5EF4-FFF2-40B4-BE49-F238E27FC236}">
                <a16:creationId xmlns:a16="http://schemas.microsoft.com/office/drawing/2014/main" id="{89DE17AC-2499-4B1D-C6E7-E96A7A0E0A12}"/>
              </a:ext>
            </a:extLst>
          </p:cNvPr>
          <p:cNvSpPr/>
          <p:nvPr/>
        </p:nvSpPr>
        <p:spPr>
          <a:xfrm>
            <a:off x="6407834" y="420624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434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NextRole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zero-Docker, local-first swarm of 20 agents for CV tailoring, interview prep and live job discovery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858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Basarutheen B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231501003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310896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34290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Abinesh JS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231501004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310896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61722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Aathikesavan P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231501002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96464A-A724-18F4-5B2B-2921741BC3C6}"/>
              </a:ext>
            </a:extLst>
          </p:cNvPr>
          <p:cNvSpPr txBox="1"/>
          <p:nvPr/>
        </p:nvSpPr>
        <p:spPr>
          <a:xfrm>
            <a:off x="6576647" y="4218950"/>
            <a:ext cx="1463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Submitted 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31E46A-5D10-E19E-D4A1-656C03271F5F}"/>
              </a:ext>
            </a:extLst>
          </p:cNvPr>
          <p:cNvSpPr txBox="1"/>
          <p:nvPr/>
        </p:nvSpPr>
        <p:spPr>
          <a:xfrm>
            <a:off x="6569613" y="4447550"/>
            <a:ext cx="19905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Dr. M. Soundarya</a:t>
            </a:r>
          </a:p>
          <a:p>
            <a:r>
              <a:rPr lang="en-US" sz="1000" dirty="0"/>
              <a:t>Professor, Department of AI&amp;ML, Rajalakshmi Engineering College</a:t>
            </a:r>
            <a:endParaRPr lang="en-I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Problem Statement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434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NextRole  |  2 /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manually rewrite CVs for every role; ATS filters reject multi-page or poorly matched resumes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tools hallucinate degrees, skills and metrics, risking credibility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prep, company research and job search live in separate disconnected tools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rarely know which skill gaps to close, or how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48006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autonomous, privacy-conscious career copilot that runs entirely on a local workstation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a verified CV to any job description with zero fabrication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guaranteed single-page ATS-compliant PDF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adaptive mock interviews with scored feedback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live jobs, fit scores and learning plans to close gaps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&amp; Our USP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434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NextRole  |  3 /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builders (Resume.io, Teal, Zety): templates only, manual tailoring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boards (LinkedIn, Indeed, Glassdoor): search only, no tailoring or prep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chatbots: can invent experience; no memory or QA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Interview-prep apps: not tied to the candidate's real projects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 tools: CV data leaves the user's machine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48006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USP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Zero-fabrication evidence store: missing skills are shown as gaps, never invented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1-page ReportLab PDF via point-budget layout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QA gate with up to 2 automated re-plan loops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 before saving to memory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recon, tailor, drill, battlecard, live job radar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Local-first, zero Docker, 20 specialised agents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434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NextRole  |  4 / 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8686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8686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154680" y="868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868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8686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Resources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63240" y="868680"/>
            <a:ext cx="0" cy="3520440"/>
          </a:xfrm>
          <a:prstGeom prst="line">
            <a:avLst/>
          </a:prstGeom>
          <a:noFill/>
          <a:ln w="9525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166360" y="868680"/>
            <a:ext cx="0" cy="3520440"/>
          </a:xfrm>
          <a:prstGeom prst="line">
            <a:avLst/>
          </a:prstGeom>
          <a:noFill/>
          <a:ln w="9525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315200" y="868680"/>
            <a:ext cx="0" cy="3520440"/>
          </a:xfrm>
          <a:prstGeom prst="line">
            <a:avLst/>
          </a:prstGeom>
          <a:noFill/>
          <a:ln w="9525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65760" y="13258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F6F2FB"/>
          </a:solidFill>
          <a:ln w="19050">
            <a:solidFill>
              <a:srgbClr val="1E1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365760" y="1325880"/>
            <a:ext cx="13258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&amp; Job Seekers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upload &amp; match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691640" y="1760220"/>
            <a:ext cx="320040" cy="0"/>
          </a:xfrm>
          <a:prstGeom prst="line">
            <a:avLst/>
          </a:prstGeom>
          <a:noFill/>
          <a:ln w="12700">
            <a:solidFill>
              <a:srgbClr val="1E1B2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65760" y="242316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F6F2FB"/>
          </a:solidFill>
          <a:ln w="19050">
            <a:solidFill>
              <a:srgbClr val="1E1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365760" y="2423160"/>
            <a:ext cx="13258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Candidates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mock drills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691640" y="2857500"/>
            <a:ext cx="320040" cy="0"/>
          </a:xfrm>
          <a:prstGeom prst="line">
            <a:avLst/>
          </a:prstGeom>
          <a:noFill/>
          <a:ln w="12700">
            <a:solidFill>
              <a:srgbClr val="1E1B2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65760" y="352044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F6F2FB"/>
          </a:solidFill>
          <a:ln w="19050">
            <a:solidFill>
              <a:srgbClr val="1E1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365760" y="3520440"/>
            <a:ext cx="13258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Learners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roadmap mastery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691640" y="3954780"/>
            <a:ext cx="320040" cy="0"/>
          </a:xfrm>
          <a:prstGeom prst="line">
            <a:avLst/>
          </a:prstGeom>
          <a:noFill/>
          <a:ln w="12700">
            <a:solidFill>
              <a:srgbClr val="1E1B2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 flipV="1">
            <a:off x="1691640" y="1897380"/>
            <a:ext cx="320040" cy="891540"/>
          </a:xfrm>
          <a:prstGeom prst="line">
            <a:avLst/>
          </a:prstGeom>
          <a:noFill/>
          <a:ln w="12700">
            <a:solidFill>
              <a:srgbClr val="1E1B2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 flipV="1">
            <a:off x="1691640" y="3040380"/>
            <a:ext cx="320040" cy="754380"/>
          </a:xfrm>
          <a:prstGeom prst="line">
            <a:avLst/>
          </a:prstGeom>
          <a:noFill/>
          <a:ln w="12700">
            <a:solidFill>
              <a:srgbClr val="1E1B2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2011680" y="144018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F6F2FB"/>
          </a:solidFill>
          <a:ln w="19050">
            <a:solidFill>
              <a:srgbClr val="1E1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2011680" y="1440180"/>
            <a:ext cx="8686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011680" y="253746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F6F2FB"/>
          </a:solidFill>
          <a:ln w="19050">
            <a:solidFill>
              <a:srgbClr val="1E1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 txBox="1"/>
          <p:nvPr/>
        </p:nvSpPr>
        <p:spPr>
          <a:xfrm>
            <a:off x="2011680" y="2537460"/>
            <a:ext cx="8686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Audio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011680" y="36347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F6F2FB"/>
          </a:solidFill>
          <a:ln w="19050">
            <a:solidFill>
              <a:srgbClr val="1E1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 txBox="1"/>
          <p:nvPr/>
        </p:nvSpPr>
        <p:spPr>
          <a:xfrm>
            <a:off x="2011680" y="3634740"/>
            <a:ext cx="8686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 flipV="1">
            <a:off x="2880360" y="1463040"/>
            <a:ext cx="365760" cy="297180"/>
          </a:xfrm>
          <a:prstGeom prst="line">
            <a:avLst/>
          </a:prstGeom>
          <a:noFill/>
          <a:ln w="12700">
            <a:solidFill>
              <a:srgbClr val="1E1B2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2880360" y="1760220"/>
            <a:ext cx="365760" cy="361188"/>
          </a:xfrm>
          <a:prstGeom prst="line">
            <a:avLst/>
          </a:prstGeom>
          <a:noFill/>
          <a:ln w="12700">
            <a:solidFill>
              <a:srgbClr val="1E1B2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 flipV="1">
            <a:off x="2880360" y="2779776"/>
            <a:ext cx="365760" cy="77724"/>
          </a:xfrm>
          <a:prstGeom prst="line">
            <a:avLst/>
          </a:prstGeom>
          <a:noFill/>
          <a:ln w="12700">
            <a:solidFill>
              <a:srgbClr val="1E1B2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2880360" y="2857500"/>
            <a:ext cx="365760" cy="580644"/>
          </a:xfrm>
          <a:prstGeom prst="line">
            <a:avLst/>
          </a:prstGeom>
          <a:noFill/>
          <a:ln w="12700">
            <a:solidFill>
              <a:srgbClr val="1E1B2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2880360" y="3954780"/>
            <a:ext cx="365760" cy="141732"/>
          </a:xfrm>
          <a:prstGeom prst="line">
            <a:avLst/>
          </a:prstGeom>
          <a:noFill/>
          <a:ln w="12700">
            <a:solidFill>
              <a:srgbClr val="1E1B2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3246120" y="11887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 txBox="1"/>
          <p:nvPr/>
        </p:nvSpPr>
        <p:spPr>
          <a:xfrm>
            <a:off x="3246120" y="1188720"/>
            <a:ext cx="1783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&amp; Document Studio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Ingestion &amp; Viewer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029200" y="1463040"/>
            <a:ext cx="27432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3246120" y="1847088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 txBox="1"/>
          <p:nvPr/>
        </p:nvSpPr>
        <p:spPr>
          <a:xfrm>
            <a:off x="3246120" y="1847088"/>
            <a:ext cx="1783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 &amp; Gap Analysis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Delta &amp; Overlap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029200" y="2121408"/>
            <a:ext cx="27432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3246120" y="2505456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 txBox="1"/>
          <p:nvPr/>
        </p:nvSpPr>
        <p:spPr>
          <a:xfrm>
            <a:off x="3246120" y="2505456"/>
            <a:ext cx="1783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Interview Simulator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Transcribe &amp; 6-Dim Radar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029200" y="2779776"/>
            <a:ext cx="27432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3246120" y="3163824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 txBox="1"/>
          <p:nvPr/>
        </p:nvSpPr>
        <p:spPr>
          <a:xfrm>
            <a:off x="3246120" y="3163824"/>
            <a:ext cx="1783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Genome Learning Planner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7/14/30-Day Mastery Roadmaps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029200" y="3438144"/>
            <a:ext cx="27432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3246120" y="3822192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 txBox="1"/>
          <p:nvPr/>
        </p:nvSpPr>
        <p:spPr>
          <a:xfrm>
            <a:off x="3246120" y="3822192"/>
            <a:ext cx="1783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Radar &amp; Job Finder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Index &amp; 1-Click Tailored PDF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029200" y="4096512"/>
            <a:ext cx="27432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5303520" y="11887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 w="19050">
            <a:solidFill>
              <a:srgbClr val="C58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 txBox="1"/>
          <p:nvPr/>
        </p:nvSpPr>
        <p:spPr>
          <a:xfrm>
            <a:off x="5303520" y="1188720"/>
            <a:ext cx="1783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Session Gateway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Manager &amp; VFS State Router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5303520" y="1847088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 w="19050">
            <a:solidFill>
              <a:srgbClr val="C58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 txBox="1"/>
          <p:nvPr/>
        </p:nvSpPr>
        <p:spPr>
          <a:xfrm>
            <a:off x="5303520" y="1847088"/>
            <a:ext cx="1783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Synthesis &amp; Evidence Team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job-analyzer → candidate-evidence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303520" y="2505456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 w="19050">
            <a:solidFill>
              <a:srgbClr val="C58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 txBox="1"/>
          <p:nvPr/>
        </p:nvSpPr>
        <p:spPr>
          <a:xfrm>
            <a:off x="5303520" y="2505456"/>
            <a:ext cx="1783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Interviewer &amp; Evaluator Team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→ prober → evaluator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5303520" y="3163824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 w="19050">
            <a:solidFill>
              <a:srgbClr val="C58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 txBox="1"/>
          <p:nvPr/>
        </p:nvSpPr>
        <p:spPr>
          <a:xfrm>
            <a:off x="5303520" y="3163824"/>
            <a:ext cx="1783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Planner &amp; Researcher Team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gap-analyzer → resource-researcher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5303520" y="3822192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 w="19050">
            <a:solidFill>
              <a:srgbClr val="C58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 txBox="1"/>
          <p:nvPr/>
        </p:nvSpPr>
        <p:spPr>
          <a:xfrm>
            <a:off x="5303520" y="3822192"/>
            <a:ext cx="1783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Scout &amp; Tailor Team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job-discovery → ats-tailor → pdf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7543800" y="1188720"/>
            <a:ext cx="1325880" cy="685800"/>
          </a:xfrm>
          <a:prstGeom prst="roundRect">
            <a:avLst>
              <a:gd name="adj" fmla="val 8000"/>
            </a:avLst>
          </a:prstGeom>
          <a:solidFill>
            <a:srgbClr val="F6F2FB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 txBox="1"/>
          <p:nvPr/>
        </p:nvSpPr>
        <p:spPr>
          <a:xfrm>
            <a:off x="7543800" y="1188720"/>
            <a:ext cx="13258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LLM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/ Pro API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7543800" y="2011680"/>
            <a:ext cx="1325880" cy="685800"/>
          </a:xfrm>
          <a:prstGeom prst="roundRect">
            <a:avLst>
              <a:gd name="adj" fmla="val 8000"/>
            </a:avLst>
          </a:prstGeom>
          <a:solidFill>
            <a:srgbClr val="F6F2FB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 txBox="1"/>
          <p:nvPr/>
        </p:nvSpPr>
        <p:spPr>
          <a:xfrm>
            <a:off x="7543800" y="2011680"/>
            <a:ext cx="13258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Memory Store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JSON Store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7543800" y="2834640"/>
            <a:ext cx="1325880" cy="685800"/>
          </a:xfrm>
          <a:prstGeom prst="roundRect">
            <a:avLst>
              <a:gd name="adj" fmla="val 8000"/>
            </a:avLst>
          </a:prstGeom>
          <a:solidFill>
            <a:srgbClr val="F6F2FB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3"/>
          <p:cNvSpPr txBox="1"/>
          <p:nvPr/>
        </p:nvSpPr>
        <p:spPr>
          <a:xfrm>
            <a:off x="7543800" y="2834640"/>
            <a:ext cx="13258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Job &amp; Web APIs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JSearch &amp; Tavily Scraping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7543800" y="3657600"/>
            <a:ext cx="1325880" cy="685800"/>
          </a:xfrm>
          <a:prstGeom prst="roundRect">
            <a:avLst>
              <a:gd name="adj" fmla="val 8000"/>
            </a:avLst>
          </a:prstGeom>
          <a:solidFill>
            <a:srgbClr val="F6F2FB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5"/>
          <p:cNvSpPr txBox="1"/>
          <p:nvPr/>
        </p:nvSpPr>
        <p:spPr>
          <a:xfrm>
            <a:off x="7543800" y="3657600"/>
            <a:ext cx="13258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PDF Artifact Store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Resumes &amp; Battlecards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7086600" y="1463040"/>
            <a:ext cx="457200" cy="68580"/>
          </a:xfrm>
          <a:prstGeom prst="line">
            <a:avLst/>
          </a:prstGeom>
          <a:noFill/>
          <a:ln w="12700">
            <a:solidFill>
              <a:srgbClr val="6A1B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7"/>
          <p:cNvSpPr/>
          <p:nvPr/>
        </p:nvSpPr>
        <p:spPr>
          <a:xfrm flipV="1">
            <a:off x="7086600" y="1531620"/>
            <a:ext cx="457200" cy="589788"/>
          </a:xfrm>
          <a:prstGeom prst="line">
            <a:avLst/>
          </a:prstGeom>
          <a:noFill/>
          <a:ln w="12700">
            <a:solidFill>
              <a:srgbClr val="6A1B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7086600" y="2121408"/>
            <a:ext cx="457200" cy="233172"/>
          </a:xfrm>
          <a:prstGeom prst="line">
            <a:avLst/>
          </a:prstGeom>
          <a:noFill/>
          <a:ln w="12700">
            <a:solidFill>
              <a:srgbClr val="6A1B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69"/>
          <p:cNvSpPr/>
          <p:nvPr/>
        </p:nvSpPr>
        <p:spPr>
          <a:xfrm flipV="1">
            <a:off x="7086600" y="1531620"/>
            <a:ext cx="457200" cy="1248156"/>
          </a:xfrm>
          <a:prstGeom prst="line">
            <a:avLst/>
          </a:prstGeom>
          <a:noFill/>
          <a:ln w="12700">
            <a:solidFill>
              <a:srgbClr val="6A1B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0"/>
          <p:cNvSpPr/>
          <p:nvPr/>
        </p:nvSpPr>
        <p:spPr>
          <a:xfrm flipV="1">
            <a:off x="7086600" y="2354580"/>
            <a:ext cx="457200" cy="425196"/>
          </a:xfrm>
          <a:prstGeom prst="line">
            <a:avLst/>
          </a:prstGeom>
          <a:noFill/>
          <a:ln w="12700">
            <a:solidFill>
              <a:srgbClr val="6A1B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1"/>
          <p:cNvSpPr/>
          <p:nvPr/>
        </p:nvSpPr>
        <p:spPr>
          <a:xfrm flipV="1">
            <a:off x="7086600" y="1531620"/>
            <a:ext cx="457200" cy="1906524"/>
          </a:xfrm>
          <a:prstGeom prst="line">
            <a:avLst/>
          </a:prstGeom>
          <a:noFill/>
          <a:ln w="12700">
            <a:solidFill>
              <a:srgbClr val="6A1B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2"/>
          <p:cNvSpPr/>
          <p:nvPr/>
        </p:nvSpPr>
        <p:spPr>
          <a:xfrm flipV="1">
            <a:off x="7086600" y="3177540"/>
            <a:ext cx="457200" cy="260604"/>
          </a:xfrm>
          <a:prstGeom prst="line">
            <a:avLst/>
          </a:prstGeom>
          <a:noFill/>
          <a:ln w="12700">
            <a:solidFill>
              <a:srgbClr val="6A1B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3"/>
          <p:cNvSpPr/>
          <p:nvPr/>
        </p:nvSpPr>
        <p:spPr>
          <a:xfrm flipV="1">
            <a:off x="7086600" y="3177540"/>
            <a:ext cx="457200" cy="918972"/>
          </a:xfrm>
          <a:prstGeom prst="line">
            <a:avLst/>
          </a:prstGeom>
          <a:noFill/>
          <a:ln w="12700">
            <a:solidFill>
              <a:srgbClr val="6A1B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 flipV="1">
            <a:off x="7086600" y="4000500"/>
            <a:ext cx="457200" cy="96012"/>
          </a:xfrm>
          <a:prstGeom prst="line">
            <a:avLst/>
          </a:prstGeom>
          <a:noFill/>
          <a:ln w="12700">
            <a:solidFill>
              <a:srgbClr val="6A1B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 txBox="1"/>
          <p:nvPr/>
        </p:nvSpPr>
        <p:spPr>
          <a:xfrm>
            <a:off x="365760" y="44988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Workspaces     </a:t>
            </a:r>
            <a:r>
              <a:rPr lang="en-US" sz="900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Multi-Agent Middleware     </a:t>
            </a: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Foundation Models &amp; Data     → Direct Synchronous Pipe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434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NextRole  |  5 /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4904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3.11/3.13, FastAPI, Uvicorn; uv package manager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4904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2.5-Flash / 1.5-Pro for multi-agent inference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14904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JSearch API (LinkedIn, Indeed, Glassdoor) and Tavily Search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59436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27355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python-docx, pypdf for parsing; ReportLab Platypus for PDF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4612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338328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Spec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383280" y="327355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RenderCV YAML schema for structured, editable resumes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617220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Storage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327355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ES6+ JS, HTML5/CSS dark UI; JSON file memory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Analysis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434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NextRole  |  6 / 8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/ Need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NextRole Serves Them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A1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seekers / students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Tailored CVs, interview readiness, skill gaps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Evidence-based resume, drills, learning plans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(primary users)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A1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&amp; placement cells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placement outcomes at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ATS-ready CVs, measurable prep scores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A1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Recruiters / employers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Honest, relevant, readable applications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Zero-fabrication, single-page, role-matched CVs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A1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 / maintainers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extensible, local 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agents, zero Docker, uv environment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A1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providers (Google, Tavily, RapidAPI)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Usage, terms, rate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Key-based, metered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&amp; Benefits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434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NextRole  |  7 /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Candidates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49047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hours per application; honest, ATS-safe CVs; confidence from scored mock interviews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Institutions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49047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placement support; consistent quality; data stays local and private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59436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Employers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27355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verified applications that are easier to screen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480060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Social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327355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local deployment lowers entry barrier; promotes ethical, responsible AI use in hiring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 ·  Higher interview-readiness  ·  Trustworthy AI output  ·  Privacy preserved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434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NextRole  |  8 /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097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cloud deployment with secure authentication and database storage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48006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1097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mock interviews with speech and confidence analysis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194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59436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and application tracking with email and calendar integration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2194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480060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212080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resumes and support for more regions and job APIs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383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59436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3474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or on-device local LLMs for fully offline use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3383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6F2FB"/>
          </a:solidFill>
          <a:ln w="12700">
            <a:solidFill>
              <a:srgbClr val="DC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480060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212080" y="3474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for institutions and Word/LaTeX/Portfolio export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826</Words>
  <Application>Microsoft Office PowerPoint</Application>
  <PresentationFormat>On-screen Show (16:9)</PresentationFormat>
  <Paragraphs>158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NextRole Multi-Agent Career Copilot</dc:title>
  <dc:subject>PptxGenJS Presentation</dc:subject>
  <dc:creator>PptxGenJS</dc:creator>
  <cp:lastModifiedBy>ABDUL BASARUTHEEN</cp:lastModifiedBy>
  <cp:revision>2</cp:revision>
  <dcterms:created xsi:type="dcterms:W3CDTF">2026-10-04T16:45:49Z</dcterms:created>
  <dcterms:modified xsi:type="dcterms:W3CDTF">2026-10-05T14:28:35Z</dcterms:modified>
</cp:coreProperties>
</file>